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0" r:id="rId23"/>
    <p:sldId id="278" r:id="rId2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6675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Introduction, présentation du binôme et du sujet.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genèse du projet et son cadre pédagogique.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trois profils utilisateurs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Détailler les contraintes du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charte graphique du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les choix technologiques et leur justification.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l'organisation logicielle du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diagramme de cas d'utilisation.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MCD de la base de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le flux de traitement du formulaire d'ajout.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Illustrer visuellement le flux de validation du formulaire et ses deux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page d'accueil et le formulaire de dépôt.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grille d'annonces et le formulaire de modification pré-rempli.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différence de vision avant et après connexion (admin).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page d'accueil dans son ensemble : dépôt d'annonce et premières cartes.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grille complète des annonces publiées.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bonnes pratiques de sécurité appliquées.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 parcours de démonstration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Analyse critique : points forts et limites.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quatre bugs résolus au cours du développement.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répartition des rôles et le suivi Trello.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Remercier le jury, conclure la soutenance.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0" y="0"/>
            <a:ext cx="6096000" cy="10287000"/>
          </a:xfrm>
          <a:prstGeom prst="rect">
            <a:avLst/>
          </a:prstGeom>
          <a:gradFill rotWithShape="1">
            <a:gsLst>
              <a:gs pos="0">
                <a:srgbClr val="FF6B4A">
                  <a:alpha val="10000"/>
                </a:srgbClr>
              </a:gs>
              <a:gs pos="60000">
                <a:srgbClr val="FF6B4A">
                  <a:alpha val="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333500" y="4099620"/>
            <a:ext cx="17183100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AnnonceExpress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333500" y="5368230"/>
            <a:ext cx="171831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B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de petites annonces — PHP / MySQL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33500" y="6368355"/>
            <a:ext cx="18112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Younes · Saidou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208734" y="6463605"/>
            <a:ext cx="57150" cy="57150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494484" y="6358830"/>
            <a:ext cx="16975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A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Formatrice : Iris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66283" y="6463605"/>
            <a:ext cx="57150" cy="57150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552033" y="6358830"/>
            <a:ext cx="13612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A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juin 2026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fr-FR" sz="1200" b="1" kern="0" spc="225" noProof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CADRAGE</a:t>
            </a:r>
            <a:endParaRPr lang="fr-F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952500" y="1314450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3900" b="1" noProof="0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projet</a:t>
            </a:r>
            <a:endParaRPr lang="fr-FR" sz="3900" noProof="0" dirty="0"/>
          </a:p>
        </p:txBody>
      </p:sp>
      <p:sp>
        <p:nvSpPr>
          <p:cNvPr id="4" name="Text 2"/>
          <p:cNvSpPr/>
          <p:nvPr/>
        </p:nvSpPr>
        <p:spPr>
          <a:xfrm>
            <a:off x="952500" y="2038350"/>
            <a:ext cx="11525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Répondre aux besoins d'un marché dynamique de petites annonces.</a:t>
            </a:r>
            <a:endParaRPr lang="fr-FR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952500" y="2867025"/>
            <a:ext cx="8058150" cy="3250406"/>
          </a:xfrm>
          <a:prstGeom prst="roundRect">
            <a:avLst>
              <a:gd name="adj" fmla="val 2930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343025" y="3219450"/>
            <a:ext cx="8004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650" b="1" noProof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scolaire</a:t>
            </a:r>
            <a:endParaRPr lang="fr-FR" sz="1650" noProof="0" dirty="0"/>
          </a:p>
        </p:txBody>
      </p:sp>
      <p:sp>
        <p:nvSpPr>
          <p:cNvPr id="7" name="Text 5"/>
          <p:cNvSpPr/>
          <p:nvPr/>
        </p:nvSpPr>
        <p:spPr>
          <a:xfrm>
            <a:off x="1343025" y="3581400"/>
            <a:ext cx="7495413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575" noProof="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PHP/MySQL validant les compétences en construction de sites dynamiques.</a:t>
            </a:r>
            <a:endParaRPr lang="fr-FR" sz="1575" noProof="0" dirty="0"/>
          </a:p>
        </p:txBody>
      </p:sp>
      <p:sp>
        <p:nvSpPr>
          <p:cNvPr id="8" name="Shape 6"/>
          <p:cNvSpPr/>
          <p:nvPr/>
        </p:nvSpPr>
        <p:spPr>
          <a:xfrm>
            <a:off x="9277350" y="2867025"/>
            <a:ext cx="8058150" cy="3250406"/>
          </a:xfrm>
          <a:prstGeom prst="roundRect">
            <a:avLst>
              <a:gd name="adj" fmla="val 2930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9667875" y="3219450"/>
            <a:ext cx="8004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650" b="1" noProof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fr-FR" sz="1650" noProof="0" dirty="0"/>
          </a:p>
        </p:txBody>
      </p:sp>
      <p:sp>
        <p:nvSpPr>
          <p:cNvPr id="10" name="Text 8"/>
          <p:cNvSpPr/>
          <p:nvPr/>
        </p:nvSpPr>
        <p:spPr>
          <a:xfrm>
            <a:off x="9667875" y="3581400"/>
            <a:ext cx="80048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575" noProof="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Reproduire les fonctions essentielles d'une plateforme type Le Bon Coin.</a:t>
            </a:r>
            <a:endParaRPr lang="fr-FR" sz="1575" noProof="0" dirty="0"/>
          </a:p>
        </p:txBody>
      </p:sp>
      <p:sp>
        <p:nvSpPr>
          <p:cNvPr id="11" name="Shape 9"/>
          <p:cNvSpPr/>
          <p:nvPr/>
        </p:nvSpPr>
        <p:spPr>
          <a:xfrm>
            <a:off x="952500" y="6384131"/>
            <a:ext cx="8058150" cy="2950369"/>
          </a:xfrm>
          <a:prstGeom prst="roundRect">
            <a:avLst>
              <a:gd name="adj" fmla="val 3228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1343025" y="6736556"/>
            <a:ext cx="8004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650" b="1" noProof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utilisateur</a:t>
            </a:r>
            <a:endParaRPr lang="fr-FR" sz="1650" noProof="0" dirty="0"/>
          </a:p>
        </p:txBody>
      </p:sp>
      <p:sp>
        <p:nvSpPr>
          <p:cNvPr id="13" name="Text 11"/>
          <p:cNvSpPr/>
          <p:nvPr/>
        </p:nvSpPr>
        <p:spPr>
          <a:xfrm>
            <a:off x="1343025" y="7098506"/>
            <a:ext cx="80048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575" noProof="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public — déposer, consulter, gérer des annonces sans inscription.</a:t>
            </a:r>
            <a:endParaRPr lang="fr-FR" sz="1575" noProof="0" dirty="0"/>
          </a:p>
        </p:txBody>
      </p:sp>
      <p:sp>
        <p:nvSpPr>
          <p:cNvPr id="14" name="Shape 12"/>
          <p:cNvSpPr/>
          <p:nvPr/>
        </p:nvSpPr>
        <p:spPr>
          <a:xfrm>
            <a:off x="9277350" y="6384131"/>
            <a:ext cx="8058150" cy="2950369"/>
          </a:xfrm>
          <a:prstGeom prst="roundRect">
            <a:avLst>
              <a:gd name="adj" fmla="val 3228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9667875" y="6736556"/>
            <a:ext cx="8004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650" b="1" noProof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Finalité</a:t>
            </a:r>
            <a:endParaRPr lang="fr-FR" sz="1650" noProof="0" dirty="0"/>
          </a:p>
        </p:txBody>
      </p:sp>
      <p:sp>
        <p:nvSpPr>
          <p:cNvPr id="16" name="Text 14"/>
          <p:cNvSpPr/>
          <p:nvPr/>
        </p:nvSpPr>
        <p:spPr>
          <a:xfrm>
            <a:off x="9667875" y="7098506"/>
            <a:ext cx="80048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575" noProof="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cycle de vie fluide de l'annonce, de la publication à la suppression.</a:t>
            </a:r>
            <a:endParaRPr lang="fr-FR" sz="1575" noProof="0" dirty="0"/>
          </a:p>
        </p:txBody>
      </p:sp>
      <p:sp>
        <p:nvSpPr>
          <p:cNvPr id="18" name="Text 16"/>
          <p:cNvSpPr/>
          <p:nvPr/>
        </p:nvSpPr>
        <p:spPr>
          <a:xfrm>
            <a:off x="16827698" y="9553575"/>
            <a:ext cx="5840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23</a:t>
            </a:r>
            <a:endParaRPr lang="fr-FR" sz="12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UTILISATEURS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314450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2038350"/>
            <a:ext cx="11525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profils clés qui guident les choix d'interface.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867025"/>
            <a:ext cx="5283101" cy="6467475"/>
          </a:xfrm>
          <a:prstGeom prst="roundRect">
            <a:avLst>
              <a:gd name="adj" fmla="val 1803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381125" y="3295650"/>
            <a:ext cx="486843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Samir · 28 ans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81125" y="3590925"/>
            <a:ext cx="486843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A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Vendeur occasionnel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81125" y="4076700"/>
            <a:ext cx="455862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50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Publier vite. Pas de démarches longues. 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02301" y="2867025"/>
            <a:ext cx="5283250" cy="6467475"/>
          </a:xfrm>
          <a:prstGeom prst="roundRect">
            <a:avLst>
              <a:gd name="adj" fmla="val 1803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30926" y="3295650"/>
            <a:ext cx="48686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Nadia · 35 ans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30926" y="3590925"/>
            <a:ext cx="48686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A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Acheteuse régulière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30926" y="4076700"/>
            <a:ext cx="45587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50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les prix. Veut des photos, un affichage clair.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052250" y="2867025"/>
            <a:ext cx="5283250" cy="6467475"/>
          </a:xfrm>
          <a:prstGeom prst="roundRect">
            <a:avLst>
              <a:gd name="adj" fmla="val 1803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2480875" y="3295650"/>
            <a:ext cx="48686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 · 50 ans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480875" y="3590925"/>
            <a:ext cx="48686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A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Bricoleur, dépose souvent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480875" y="4076700"/>
            <a:ext cx="45587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50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Veut modifier facilement ses annonces, un espace de gestion simple.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827550" y="9553575"/>
            <a:ext cx="5841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CADRAGE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314450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Cahier des charges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2038350"/>
            <a:ext cx="11525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performance et simplicité.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867025"/>
            <a:ext cx="8058150" cy="3100388"/>
          </a:xfrm>
          <a:prstGeom prst="roundRect">
            <a:avLst>
              <a:gd name="adj" fmla="val 3072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343025" y="3219450"/>
            <a:ext cx="8004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Contraintes techniques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43025" y="3581400"/>
            <a:ext cx="80048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natif et MySQL via XAMPP, sécurité par requêtes préparées (mysqli).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9277350" y="2867025"/>
            <a:ext cx="8058150" cy="3100388"/>
          </a:xfrm>
          <a:prstGeom prst="roundRect">
            <a:avLst>
              <a:gd name="adj" fmla="val 3072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9667875" y="3219450"/>
            <a:ext cx="8004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utilisateur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667875" y="3581400"/>
            <a:ext cx="80048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intuitive, formulaire complet, grille de cartes responsive.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952500" y="6234113"/>
            <a:ext cx="8058150" cy="3100388"/>
          </a:xfrm>
          <a:prstGeom prst="roundRect">
            <a:avLst>
              <a:gd name="adj" fmla="val 3072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343025" y="6586538"/>
            <a:ext cx="8004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média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43025" y="6948488"/>
            <a:ext cx="80048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de photos optionnelles pour illustrer chaque annonce.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77350" y="6234113"/>
            <a:ext cx="8058150" cy="3100388"/>
          </a:xfrm>
          <a:prstGeom prst="roundRect">
            <a:avLst>
              <a:gd name="adj" fmla="val 3072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9667875" y="6586538"/>
            <a:ext cx="8004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 temporelle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667875" y="6948488"/>
            <a:ext cx="80048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en binôme via GitHub Desktop, livraison le 26 juin 2026.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16824424" y="9553575"/>
            <a:ext cx="5872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CONCEPTION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314450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Identité visuelle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2038350"/>
            <a:ext cx="11525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Corail et Anthracite — lisibilité et ergonomie professionnelle.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867025"/>
            <a:ext cx="3895725" cy="6467475"/>
          </a:xfrm>
          <a:prstGeom prst="roundRect">
            <a:avLst>
              <a:gd name="adj" fmla="val 2445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343025" y="3257550"/>
            <a:ext cx="3114675" cy="1143000"/>
          </a:xfrm>
          <a:prstGeom prst="roundRect">
            <a:avLst>
              <a:gd name="adj" fmla="val 6667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343025" y="4629150"/>
            <a:ext cx="342614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Corail #FF6B4A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43025" y="4953000"/>
            <a:ext cx="342614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8A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Header, boutons, prix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5114925" y="2867025"/>
            <a:ext cx="3895725" cy="6467475"/>
          </a:xfrm>
          <a:prstGeom prst="roundRect">
            <a:avLst>
              <a:gd name="adj" fmla="val 2445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505450" y="3257550"/>
            <a:ext cx="3133725" cy="1162050"/>
          </a:xfrm>
          <a:prstGeom prst="roundRect">
            <a:avLst>
              <a:gd name="adj" fmla="val 6557"/>
            </a:avLst>
          </a:prstGeom>
          <a:solidFill>
            <a:srgbClr val="333333"/>
          </a:solidFill>
          <a:ln w="9525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505450" y="4648200"/>
            <a:ext cx="342614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Anthracite #333333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505450" y="4972050"/>
            <a:ext cx="342614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8A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 principal, lisibilité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9277350" y="2867025"/>
            <a:ext cx="3895725" cy="6467475"/>
          </a:xfrm>
          <a:prstGeom prst="roundRect">
            <a:avLst>
              <a:gd name="adj" fmla="val 2445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667875" y="3257550"/>
            <a:ext cx="3114675" cy="1143000"/>
          </a:xfrm>
          <a:prstGeom prst="roundRect">
            <a:avLst>
              <a:gd name="adj" fmla="val 6667"/>
            </a:avLst>
          </a:prstGeom>
          <a:gradFill rotWithShape="1">
            <a:gsLst>
              <a:gs pos="0">
                <a:srgbClr val="E7E3DE">
                  <a:alpha val="100000"/>
                </a:srgbClr>
              </a:gs>
              <a:gs pos="100000">
                <a:srgbClr val="9A948E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9667875" y="4629150"/>
            <a:ext cx="342614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 / Blanc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667875" y="4953000"/>
            <a:ext cx="342614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8A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 et cartes, neutres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3439775" y="2867025"/>
            <a:ext cx="3895725" cy="6467475"/>
          </a:xfrm>
          <a:prstGeom prst="roundRect">
            <a:avLst>
              <a:gd name="adj" fmla="val 2445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3830300" y="5524500"/>
            <a:ext cx="342614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3830300" y="6115050"/>
            <a:ext cx="342614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830300" y="6438900"/>
            <a:ext cx="342614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8A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 standard du site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6828294" y="9553575"/>
            <a:ext cx="5834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CONCEPTION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314450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technologique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2038350"/>
            <a:ext cx="11525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solution robuste en PHP et MySQL.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752725"/>
            <a:ext cx="16383000" cy="6581775"/>
          </a:xfrm>
          <a:prstGeom prst="roundRect">
            <a:avLst>
              <a:gd name="adj" fmla="val 1447"/>
            </a:avLst>
          </a:prstGeom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62025" y="2762250"/>
            <a:ext cx="16363950" cy="619125"/>
          </a:xfrm>
          <a:prstGeom prst="rect">
            <a:avLst/>
          </a:prstGeom>
          <a:solidFill>
            <a:srgbClr val="FF6B4A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343025" y="2971800"/>
            <a:ext cx="42905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243513" y="2971800"/>
            <a:ext cx="42905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0" y="2971800"/>
            <a:ext cx="85810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2025" y="3381375"/>
            <a:ext cx="16363950" cy="762000"/>
          </a:xfrm>
          <a:prstGeom prst="rect">
            <a:avLst/>
          </a:prstGeom>
          <a:solidFill>
            <a:srgbClr val="1B1A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962025" y="3381375"/>
            <a:ext cx="16363950" cy="9525"/>
          </a:xfrm>
          <a:prstGeom prst="rect">
            <a:avLst/>
          </a:prstGeom>
          <a:solidFill>
            <a:srgbClr val="2B29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343025" y="3638550"/>
            <a:ext cx="42905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243513" y="3638550"/>
            <a:ext cx="42905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natif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9144000" y="3638550"/>
            <a:ext cx="85810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Logique métier et CRUD sans dépendances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962025" y="4143375"/>
            <a:ext cx="16363950" cy="762000"/>
          </a:xfrm>
          <a:prstGeom prst="rect">
            <a:avLst/>
          </a:prstGeom>
          <a:solidFill>
            <a:srgbClr val="211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962025" y="4143375"/>
            <a:ext cx="16363950" cy="9525"/>
          </a:xfrm>
          <a:prstGeom prst="rect">
            <a:avLst/>
          </a:prstGeom>
          <a:solidFill>
            <a:srgbClr val="2B29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343025" y="4400550"/>
            <a:ext cx="42905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243513" y="4400550"/>
            <a:ext cx="42905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9144000" y="4400550"/>
            <a:ext cx="85810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 préparées mysqli contre les injections SQL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962025" y="4905375"/>
            <a:ext cx="16363950" cy="762000"/>
          </a:xfrm>
          <a:prstGeom prst="rect">
            <a:avLst/>
          </a:prstGeom>
          <a:solidFill>
            <a:srgbClr val="1B1A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962025" y="4905375"/>
            <a:ext cx="16363950" cy="9525"/>
          </a:xfrm>
          <a:prstGeom prst="rect">
            <a:avLst/>
          </a:prstGeom>
          <a:solidFill>
            <a:srgbClr val="2B29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343025" y="5162550"/>
            <a:ext cx="42905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5243513" y="5162550"/>
            <a:ext cx="42905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CSS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9144000" y="5162550"/>
            <a:ext cx="85810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Grille responsive, design moderne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962025" y="5667375"/>
            <a:ext cx="16363950" cy="762000"/>
          </a:xfrm>
          <a:prstGeom prst="rect">
            <a:avLst/>
          </a:prstGeom>
          <a:solidFill>
            <a:srgbClr val="211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962025" y="5667375"/>
            <a:ext cx="16363950" cy="9525"/>
          </a:xfrm>
          <a:prstGeom prst="rect">
            <a:avLst/>
          </a:prstGeom>
          <a:solidFill>
            <a:srgbClr val="2B29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343025" y="5924550"/>
            <a:ext cx="42905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243513" y="5924550"/>
            <a:ext cx="42905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XAMPP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9144000" y="5924550"/>
            <a:ext cx="85810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 Apache local pour tests et démonstration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962025" y="6429375"/>
            <a:ext cx="16363950" cy="762000"/>
          </a:xfrm>
          <a:prstGeom prst="rect">
            <a:avLst/>
          </a:prstGeom>
          <a:solidFill>
            <a:srgbClr val="1B1A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962025" y="6429375"/>
            <a:ext cx="16363950" cy="9525"/>
          </a:xfrm>
          <a:prstGeom prst="rect">
            <a:avLst/>
          </a:prstGeom>
          <a:solidFill>
            <a:srgbClr val="2B29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1343025" y="6686550"/>
            <a:ext cx="42905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Versionning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5243513" y="6686550"/>
            <a:ext cx="42905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Desktop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9144000" y="6686550"/>
            <a:ext cx="85810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collaboratif et historique du code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16826359" y="9553575"/>
            <a:ext cx="5853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314450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 et arborescence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2038350"/>
            <a:ext cx="11525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logicielle du projet AnnonceExpress.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51638" y="6096000"/>
            <a:ext cx="438303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remplacer par votre schéma de dossiers / </a:t>
            </a:r>
            <a:r>
              <a:rPr lang="en-US" sz="1275" dirty="0" err="1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fichies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6824722" y="9553575"/>
            <a:ext cx="58697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23</a:t>
            </a:r>
            <a:endParaRPr lang="en-US" sz="12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3A8437B-8219-7EFA-DE5E-9045F3CE2CE9}"/>
              </a:ext>
            </a:extLst>
          </p:cNvPr>
          <p:cNvSpPr txBox="1"/>
          <p:nvPr/>
        </p:nvSpPr>
        <p:spPr>
          <a:xfrm>
            <a:off x="4742645" y="4960444"/>
            <a:ext cx="9485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3CB3D249-97F1-51E0-7314-CB1E5B71F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813538"/>
            <a:ext cx="16772792" cy="65209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MODÉLISATION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314450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d'utilisation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2038350"/>
            <a:ext cx="11525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acteur — Utilisateur — au centre de quatre fonctions CRUD.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80337" y="5743575"/>
            <a:ext cx="476005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 UML — CAS D'UTILISATION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6848" y="6096000"/>
            <a:ext cx="643973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remplacer par votre diagramme (Ajouter · Modifier · Supprimer · Consulter)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6826359" y="9553575"/>
            <a:ext cx="5853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23</a:t>
            </a:r>
            <a:endParaRPr lang="en-US" sz="12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E588C45-48FF-0FA0-A895-0FF209FDC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2867025"/>
            <a:ext cx="16383000" cy="6619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MODÉLISATION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314450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Conceptuel de Données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2038350"/>
            <a:ext cx="11525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de la base de données du projet.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714625"/>
            <a:ext cx="16383000" cy="6619875"/>
          </a:xfrm>
          <a:prstGeom prst="roundRect">
            <a:avLst>
              <a:gd name="adj" fmla="val 172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6B4A">
                <a:alpha val="45000"/>
              </a:srgbClr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668369" y="5743575"/>
            <a:ext cx="324622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 — BASE DE DONNÉES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19045" y="6096000"/>
            <a:ext cx="44549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remplacer par votre schéma entités / associations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6855976" y="9553575"/>
            <a:ext cx="5557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23</a:t>
            </a:r>
            <a:endParaRPr lang="en-US" sz="12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C5EAC48-678A-0E6F-A540-B762927794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500" y="2714625"/>
            <a:ext cx="16459200" cy="6619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MODÉLISATION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314450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Algorithme — Ajouter une annonce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2038350"/>
            <a:ext cx="11525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de traitement du formulaire, avec gestion des erreurs.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714625"/>
            <a:ext cx="3952875" cy="6619875"/>
          </a:xfrm>
          <a:prstGeom prst="roundRect">
            <a:avLst>
              <a:gd name="adj" fmla="val 2410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266825" y="5524500"/>
            <a:ext cx="36566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66825" y="6029325"/>
            <a:ext cx="342395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Réception des données du formulaire (POST)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95875" y="2714625"/>
            <a:ext cx="3952875" cy="6619875"/>
          </a:xfrm>
          <a:prstGeom prst="roundRect">
            <a:avLst>
              <a:gd name="adj" fmla="val 2410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410200" y="5648325"/>
            <a:ext cx="36566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5410200" y="6153150"/>
            <a:ext cx="36566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des champs obligatoires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239250" y="2714625"/>
            <a:ext cx="3952875" cy="6619875"/>
          </a:xfrm>
          <a:prstGeom prst="roundRect">
            <a:avLst>
              <a:gd name="adj" fmla="val 2410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9553575" y="5648325"/>
            <a:ext cx="36566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553575" y="6153150"/>
            <a:ext cx="36566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et vérification de la photo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382625" y="2714625"/>
            <a:ext cx="3952875" cy="6619875"/>
          </a:xfrm>
          <a:prstGeom prst="roundRect">
            <a:avLst>
              <a:gd name="adj" fmla="val 2410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3696950" y="5524500"/>
            <a:ext cx="36566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3696950" y="6029325"/>
            <a:ext cx="342395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Insertion en base via requête préparée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889909" y="9553575"/>
            <a:ext cx="5217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MODÉLISATION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314450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Schéma et retours à l'utilisateur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2038350"/>
            <a:ext cx="1257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même flux, vu côté logique et côté interface.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500" y="2613985"/>
            <a:ext cx="7680467" cy="6554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78895" y="195890"/>
            <a:ext cx="75618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0" dirty="0">
                <a:solidFill>
                  <a:srgbClr val="E45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CHAMPS INVALIDES</a:t>
            </a:r>
            <a:endParaRPr lang="en-US" sz="1125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8978895" y="538163"/>
            <a:ext cx="5260661" cy="4668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712" y="5620956"/>
            <a:ext cx="75618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150" dirty="0">
                <a:solidFill>
                  <a:srgbClr val="5BAE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CHAMPS VALIDES</a:t>
            </a:r>
            <a:endParaRPr lang="en-US" sz="1125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11887712" y="5992237"/>
            <a:ext cx="4652991" cy="421105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861631" y="9553575"/>
            <a:ext cx="5500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314450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Accueil &amp; formulaire de dépôt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2038350"/>
            <a:ext cx="1257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Formulaire structuré : titre, description, prix, catégorie, photo.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714625"/>
            <a:ext cx="8058150" cy="6619875"/>
          </a:xfrm>
          <a:prstGeom prst="roundRect">
            <a:avLst>
              <a:gd name="adj" fmla="val 172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6B4A">
                <a:alpha val="45000"/>
              </a:srgbClr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504456" y="5767388"/>
            <a:ext cx="32496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5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— PAGE D'ACCUEIL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592116" y="6081713"/>
            <a:ext cx="305681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remplacer par votre capture d'écran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277350" y="2714625"/>
            <a:ext cx="8058150" cy="6619875"/>
          </a:xfrm>
          <a:prstGeom prst="roundRect">
            <a:avLst>
              <a:gd name="adj" fmla="val 172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6B4A">
                <a:alpha val="45000"/>
              </a:srgbClr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1463040" y="5767388"/>
            <a:ext cx="405528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5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— FORMULAIRE DE DÉPÔT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916966" y="6081713"/>
            <a:ext cx="305681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remplacer par votre capture d'écran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861482" y="9553575"/>
            <a:ext cx="55021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23</a:t>
            </a:r>
            <a:endParaRPr lang="en-US" sz="12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B8193C7-58AD-3893-2B46-61168E457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1" y="2714626"/>
            <a:ext cx="7933592" cy="653488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C04E833-16AA-98D9-3AA6-FDF1565E0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0" y="2590800"/>
            <a:ext cx="8058150" cy="6619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314450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Grille de modification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2038350"/>
            <a:ext cx="1257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Affichage en grille 3 colonnes · formulaire pré-rempli via paramètres GET.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858357" y="9553575"/>
            <a:ext cx="55334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23</a:t>
            </a:r>
            <a:endParaRPr lang="en-US" sz="1200" dirty="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C05B34AE-F18E-A62B-295F-5DA0293F12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15477" y="2968571"/>
            <a:ext cx="7863922" cy="63659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314450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et après connexion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2038350"/>
            <a:ext cx="1257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actions de gestion sont réservées aux utilisateurs connectés et propriétaires.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862375" y="9553575"/>
            <a:ext cx="5493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23</a:t>
            </a:r>
            <a:endParaRPr lang="en-US" sz="12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770B0101-9A38-003E-93A2-B24295F2A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594" y="2844689"/>
            <a:ext cx="5582429" cy="579200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72A3AD29-C621-ED1E-F6F9-9B6E7A092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2699" y="2871387"/>
            <a:ext cx="5400495" cy="5734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314450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globale du site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2038350"/>
            <a:ext cx="1257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page d'accueil : dépôt d'annonce et annonces de l'utilisateur.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714625"/>
            <a:ext cx="16383000" cy="6619875"/>
          </a:xfrm>
          <a:prstGeom prst="roundRect">
            <a:avLst>
              <a:gd name="adj" fmla="val 2014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190625" y="2952750"/>
            <a:ext cx="15906750" cy="6143625"/>
          </a:xfrm>
          <a:prstGeom prst="roundRect">
            <a:avLst>
              <a:gd name="adj" fmla="val 1240"/>
            </a:avLst>
          </a:prstGeom>
          <a:solidFill>
            <a:srgbClr val="0F0E1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2453432" y="2952750"/>
            <a:ext cx="13380988" cy="61434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860292" y="9553575"/>
            <a:ext cx="55140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314450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globale du site — suite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2038350"/>
            <a:ext cx="1257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grille complète des annonces publiées sur la plateforme.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714625"/>
            <a:ext cx="16383000" cy="6619875"/>
          </a:xfrm>
          <a:prstGeom prst="roundRect">
            <a:avLst>
              <a:gd name="adj" fmla="val 2014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190625" y="2952750"/>
            <a:ext cx="15906750" cy="6143625"/>
          </a:xfrm>
          <a:prstGeom prst="roundRect">
            <a:avLst>
              <a:gd name="adj" fmla="val 1240"/>
            </a:avLst>
          </a:prstGeom>
          <a:solidFill>
            <a:srgbClr val="0F0E1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4755654" y="2952750"/>
            <a:ext cx="8776543" cy="61434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867584" y="9553575"/>
            <a:ext cx="5441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QUALITÉ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314450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2038350"/>
            <a:ext cx="11525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bonnes pratiques appliquées à chaque étape.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867025"/>
            <a:ext cx="8058150" cy="3100388"/>
          </a:xfrm>
          <a:prstGeom prst="roundRect">
            <a:avLst>
              <a:gd name="adj" fmla="val 3072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343025" y="3219450"/>
            <a:ext cx="8004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 préparées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43025" y="3581400"/>
            <a:ext cx="80048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prepare() et bind_param() pour empêcher les injections SQL.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9277350" y="2867025"/>
            <a:ext cx="8058150" cy="3100388"/>
          </a:xfrm>
          <a:prstGeom prst="roundRect">
            <a:avLst>
              <a:gd name="adj" fmla="val 3072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9667875" y="3219450"/>
            <a:ext cx="8004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des fichiers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667875" y="3581400"/>
            <a:ext cx="80048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Extensions jpg/jpeg/png/gif/webp acceptées, nom régénéré.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952500" y="6234113"/>
            <a:ext cx="8058150" cy="3100388"/>
          </a:xfrm>
          <a:prstGeom prst="roundRect">
            <a:avLst>
              <a:gd name="adj" fmla="val 3072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343025" y="6586538"/>
            <a:ext cx="8004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droits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43025" y="6948488"/>
            <a:ext cx="80048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du propriétaire à chaque modification/suppression.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77350" y="6234113"/>
            <a:ext cx="8058150" cy="3100388"/>
          </a:xfrm>
          <a:prstGeom prst="roundRect">
            <a:avLst>
              <a:gd name="adj" fmla="val 3072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9667875" y="6586538"/>
            <a:ext cx="8004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Filtrage des entrées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667875" y="6948488"/>
            <a:ext cx="80048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htmlspecialchars() sur les données affichées, contre le XSS.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16858655" y="9553575"/>
            <a:ext cx="5530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DÉMONSTRATION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314450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en direct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2038350"/>
            <a:ext cx="11525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 utilisateur : du dépôt à la suppression.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867025"/>
            <a:ext cx="8058150" cy="3100388"/>
          </a:xfrm>
          <a:prstGeom prst="roundRect">
            <a:avLst>
              <a:gd name="adj" fmla="val 3072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343025" y="3219450"/>
            <a:ext cx="4152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10655" y="3219450"/>
            <a:ext cx="28302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Dépôt d'une annonce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10655" y="3543300"/>
            <a:ext cx="283023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Titre, description, prix, photo.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9277350" y="2867025"/>
            <a:ext cx="8058150" cy="3100388"/>
          </a:xfrm>
          <a:prstGeom prst="roundRect">
            <a:avLst>
              <a:gd name="adj" fmla="val 3072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9667875" y="3219450"/>
            <a:ext cx="4152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235505" y="3219450"/>
            <a:ext cx="31173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Modification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235505" y="3543300"/>
            <a:ext cx="311738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Édition via formulaire pré-rempli.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952500" y="6234113"/>
            <a:ext cx="8058150" cy="3100388"/>
          </a:xfrm>
          <a:prstGeom prst="roundRect">
            <a:avLst>
              <a:gd name="adj" fmla="val 3072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343025" y="6586538"/>
            <a:ext cx="4152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910655" y="6586538"/>
            <a:ext cx="31362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Suppression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10655" y="6910388"/>
            <a:ext cx="313621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vérification du propriétaire.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9277350" y="6234113"/>
            <a:ext cx="8058150" cy="3100388"/>
          </a:xfrm>
          <a:prstGeom prst="roundRect">
            <a:avLst>
              <a:gd name="adj" fmla="val 3072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667875" y="6586538"/>
            <a:ext cx="4152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235505" y="6586538"/>
            <a:ext cx="2714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Affichage &amp; cas limites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235505" y="6910388"/>
            <a:ext cx="27140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Grille + annonce sans photo.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6860292" y="9553575"/>
            <a:ext cx="55140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BILAN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314450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du projet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2038350"/>
            <a:ext cx="11525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Succès techniques et axes d'amélioration.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790825"/>
            <a:ext cx="8058150" cy="6543675"/>
          </a:xfrm>
          <a:prstGeom prst="roundRect">
            <a:avLst>
              <a:gd name="adj" fmla="val 1456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343025" y="3181350"/>
            <a:ext cx="80048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forts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43025" y="3676650"/>
            <a:ext cx="74954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210000"/>
              </a:lnSpc>
              <a:buNone/>
            </a:pPr>
            <a:r>
              <a:rPr lang="en-US" sz="150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CRUD complet et fonctionnel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43025" y="4076700"/>
            <a:ext cx="74954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210000"/>
              </a:lnSpc>
              <a:buNone/>
            </a:pPr>
            <a:r>
              <a:rPr lang="en-US" sz="150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Sécurité par requêtes préparées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43025" y="4476750"/>
            <a:ext cx="74954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210000"/>
              </a:lnSpc>
              <a:buNone/>
            </a:pPr>
            <a:r>
              <a:rPr lang="en-US" sz="150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Interface responsive, upload d'images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3025" y="4876800"/>
            <a:ext cx="74954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210000"/>
              </a:lnSpc>
              <a:buNone/>
            </a:pPr>
            <a:r>
              <a:rPr lang="en-US" sz="150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Maîtrise de Git / XAMPP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277350" y="2790825"/>
            <a:ext cx="8058150" cy="6543675"/>
          </a:xfrm>
          <a:prstGeom prst="roundRect">
            <a:avLst>
              <a:gd name="adj" fmla="val 1456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9667875" y="3181350"/>
            <a:ext cx="80048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&amp; évolutions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67875" y="3676650"/>
            <a:ext cx="74954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210000"/>
              </a:lnSpc>
              <a:buNone/>
            </a:pPr>
            <a:r>
              <a:rPr lang="en-US" sz="150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Pas encore d'authentification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67875" y="4076700"/>
            <a:ext cx="74954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210000"/>
              </a:lnSpc>
              <a:buNone/>
            </a:pPr>
            <a:r>
              <a:rPr lang="en-US" sz="150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Modèle de données à table unique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67875" y="4476750"/>
            <a:ext cx="74954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210000"/>
              </a:lnSpc>
              <a:buNone/>
            </a:pPr>
            <a:r>
              <a:rPr lang="en-US" sz="150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Filtrage des annonces limité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67875" y="4876800"/>
            <a:ext cx="74954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210000"/>
              </a:lnSpc>
              <a:buNone/>
            </a:pPr>
            <a:r>
              <a:rPr lang="en-US" sz="150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À venir : recherche et login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827698" y="9553575"/>
            <a:ext cx="5840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23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BILAN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314450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Défis techniques résolus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2038350"/>
            <a:ext cx="11525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bugs, quatre résolutions.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790825"/>
            <a:ext cx="8058150" cy="3274219"/>
          </a:xfrm>
          <a:prstGeom prst="roundRect">
            <a:avLst>
              <a:gd name="adj" fmla="val 2909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304925" y="3105150"/>
            <a:ext cx="80886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7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bind_param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304925" y="3390900"/>
            <a:ext cx="757389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accidentel dans la chaîne de types → vérification rigoureuse des paramètres.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9277350" y="2790825"/>
            <a:ext cx="8058150" cy="3274219"/>
          </a:xfrm>
          <a:prstGeom prst="roundRect">
            <a:avLst>
              <a:gd name="adj" fmla="val 2909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9629775" y="3105150"/>
            <a:ext cx="80886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7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Photo écrasée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9629775" y="3390900"/>
            <a:ext cx="808863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Chemin remplacé à l'édition → champ caché conservant l'ancienne valeur.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952500" y="6331744"/>
            <a:ext cx="8058150" cy="3002756"/>
          </a:xfrm>
          <a:prstGeom prst="roundRect">
            <a:avLst>
              <a:gd name="adj" fmla="val 3172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304925" y="6646069"/>
            <a:ext cx="80886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7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Headers already sent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304925" y="6931819"/>
            <a:ext cx="808863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rendu avant header() → traitement PHP déplacé avant le rendu.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9277350" y="6331744"/>
            <a:ext cx="8058150" cy="3002756"/>
          </a:xfrm>
          <a:prstGeom prst="roundRect">
            <a:avLst>
              <a:gd name="adj" fmla="val 3172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9629775" y="6646069"/>
            <a:ext cx="80886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7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InnoDB lock timeout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9629775" y="6931819"/>
            <a:ext cx="808863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phpMyAdmin ouvert bloquant les transactions → fermé pendant les tests.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6861631" y="9553575"/>
            <a:ext cx="5500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23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— ORGANISATION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314450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projet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2038350"/>
            <a:ext cx="1257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 définis, outils collaboratifs, suivi via Trello.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752725"/>
            <a:ext cx="5283101" cy="1352550"/>
          </a:xfrm>
          <a:prstGeom prst="roundRect">
            <a:avLst>
              <a:gd name="adj" fmla="val 7042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266825" y="3028950"/>
            <a:ext cx="511989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66825" y="3314700"/>
            <a:ext cx="479408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Younes — dév. (PHP/CSS/BDD) · Saidou — conception (MCD, UML, algo)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02301" y="2752725"/>
            <a:ext cx="5283250" cy="1352550"/>
          </a:xfrm>
          <a:prstGeom prst="roundRect">
            <a:avLst>
              <a:gd name="adj" fmla="val 7042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816626" y="3028950"/>
            <a:ext cx="512006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6816626" y="3314700"/>
            <a:ext cx="51200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Desktop pour le code, Sublime Text pour l'édition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2052250" y="2752725"/>
            <a:ext cx="5283250" cy="1352550"/>
          </a:xfrm>
          <a:prstGeom prst="roundRect">
            <a:avLst>
              <a:gd name="adj" fmla="val 7042"/>
            </a:avLst>
          </a:prstGeom>
          <a:solidFill>
            <a:srgbClr val="211F24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2366575" y="3028950"/>
            <a:ext cx="512006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2366575" y="3314700"/>
            <a:ext cx="51200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réguliers sur XAMPP, itérations au fil des séances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52500" y="4371975"/>
            <a:ext cx="5334000" cy="4962525"/>
          </a:xfrm>
          <a:prstGeom prst="roundRect">
            <a:avLst>
              <a:gd name="adj" fmla="val 1919"/>
            </a:avLst>
          </a:prstGeom>
          <a:solidFill>
            <a:srgbClr val="1B1A1E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209675" y="4610100"/>
            <a:ext cx="530161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75" dirty="0">
                <a:solidFill>
                  <a:srgbClr val="8A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FAIRE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209675" y="4933950"/>
            <a:ext cx="496424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dirty="0">
                <a:solidFill>
                  <a:srgbClr val="B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&amp; filtres Table Catégorie (BDD) Page détail annonce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6477000" y="4371975"/>
            <a:ext cx="5334000" cy="4962525"/>
          </a:xfrm>
          <a:prstGeom prst="roundRect">
            <a:avLst>
              <a:gd name="adj" fmla="val 1919"/>
            </a:avLst>
          </a:prstGeom>
          <a:solidFill>
            <a:srgbClr val="1B1A1E"/>
          </a:solidFill>
          <a:ln w="9525">
            <a:solidFill>
              <a:srgbClr val="322F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734175" y="4610100"/>
            <a:ext cx="530161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75" dirty="0">
                <a:solidFill>
                  <a:srgbClr val="8A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6734175" y="4933950"/>
            <a:ext cx="49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dirty="0">
                <a:solidFill>
                  <a:srgbClr val="B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Préparation de la soutenance Relecture finale du code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12001500" y="4371975"/>
            <a:ext cx="5334000" cy="4962525"/>
          </a:xfrm>
          <a:prstGeom prst="roundRect">
            <a:avLst>
              <a:gd name="adj" fmla="val 1919"/>
            </a:avLst>
          </a:prstGeom>
          <a:solidFill>
            <a:srgbClr val="1B1A1E"/>
          </a:solidFill>
          <a:ln w="9525">
            <a:solidFill>
              <a:srgbClr val="FF6B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2258675" y="4610100"/>
            <a:ext cx="530161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75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12258675" y="4933950"/>
            <a:ext cx="496424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dirty="0">
                <a:solidFill>
                  <a:srgbClr val="D8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 &amp; UML · Arborescence CRUD annonces · Authentification Sécurisation SQL / XSS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6833503" y="9705975"/>
            <a:ext cx="5781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23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A1D5E2B-B56D-666D-90C4-8494925508E8}"/>
              </a:ext>
            </a:extLst>
          </p:cNvPr>
          <p:cNvSpPr txBox="1"/>
          <p:nvPr/>
        </p:nvSpPr>
        <p:spPr>
          <a:xfrm>
            <a:off x="1257300" y="277207"/>
            <a:ext cx="15773400" cy="2258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5400" b="1" kern="1200" noProof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Gestion de projet et Organisation des taches avec Trello</a:t>
            </a:r>
            <a:endParaRPr lang="fr-FR" sz="5400" kern="1200" noProof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0A0AD44-9C32-EBC0-9B0B-50819C64B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25" y="1931831"/>
            <a:ext cx="16612949" cy="755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700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3"/>
            <a:ext cx="6096000" cy="10287000"/>
          </a:xfrm>
          <a:prstGeom prst="rect">
            <a:avLst/>
          </a:prstGeom>
          <a:gradFill rotWithShape="1">
            <a:gsLst>
              <a:gs pos="0">
                <a:srgbClr val="FF6B4A">
                  <a:alpha val="10000"/>
                </a:srgbClr>
              </a:gs>
              <a:gs pos="60000">
                <a:srgbClr val="FF6B4A">
                  <a:alpha val="0"/>
                </a:srgbClr>
              </a:gs>
            </a:gsLst>
            <a:lin ang="9000000" scaled="0"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431755" y="3871913"/>
            <a:ext cx="342434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48615" y="4510088"/>
            <a:ext cx="759062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algn="ctr"/>
            <a:r>
              <a:rPr lang="en-US" sz="5400" b="1" kern="0" spc="30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</a:t>
            </a:r>
            <a:endParaRPr lang="en-US" sz="5400" dirty="0"/>
          </a:p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024222" y="5319713"/>
            <a:ext cx="82394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A39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AnnonceExpress — plateforme de petites annonces en PHP / MySQL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05707" y="6157913"/>
            <a:ext cx="18112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Younes · Saidou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563273" y="6253163"/>
            <a:ext cx="57150" cy="57150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711476" y="6148388"/>
            <a:ext cx="30260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8A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 SIO · 26 juin 2026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1274</Words>
  <Application>Microsoft Office PowerPoint</Application>
  <PresentationFormat>Personnalisé</PresentationFormat>
  <Paragraphs>256</Paragraphs>
  <Slides>23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6" baseType="lpstr">
      <vt:lpstr>Arial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FRI Younes</cp:lastModifiedBy>
  <cp:revision>4</cp:revision>
  <dcterms:created xsi:type="dcterms:W3CDTF">2026-07-07T18:40:25Z</dcterms:created>
  <dcterms:modified xsi:type="dcterms:W3CDTF">2026-07-08T06:14:55Z</dcterms:modified>
</cp:coreProperties>
</file>